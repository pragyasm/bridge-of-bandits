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0" r:id="rId1"/>
  </p:sldMasterIdLst>
  <p:sldIdLst>
    <p:sldId id="256" r:id="rId2"/>
    <p:sldId id="261" r:id="rId3"/>
    <p:sldId id="263" r:id="rId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A5732C-ED4E-45D1-91EA-5AB73E7F9DC3}" v="43" dt="2025-12-14T16:41:24.347"/>
    <p1510:client id="{6832BFE4-4E40-48C3-B3FD-69B319C0DA20}" v="580" dt="2025-12-14T18:14:57.036"/>
    <p1510:client id="{EE0EAFA4-6049-49F3-9D5D-2DB7B7F93B7F}" v="1949" dt="2025-12-14T14:53:57.749"/>
    <p1510:client id="{FE44F1E8-E747-4C87-9293-14CEBC83BE15}" v="10" dt="2025-12-14T14:59:51.7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16"/>
  </p:normalViewPr>
  <p:slideViewPr>
    <p:cSldViewPr>
      <p:cViewPr varScale="1">
        <p:scale>
          <a:sx n="122" d="100"/>
          <a:sy n="122" d="100"/>
        </p:scale>
        <p:origin x="224"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dirty="0"/>
          </a:p>
        </p:txBody>
      </p:sp>
    </p:spTree>
    <p:extLst>
      <p:ext uri="{BB962C8B-B14F-4D97-AF65-F5344CB8AC3E}">
        <p14:creationId xmlns:p14="http://schemas.microsoft.com/office/powerpoint/2010/main" val="3227096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2A54C80-263E-416B-A8E0-580EDEADCBDC}" type="datetimeFigureOut">
              <a:rPr lang="en-US"/>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a:t>‹#›</a:t>
            </a:fld>
            <a:endParaRPr lang="en-US" dirty="0"/>
          </a:p>
        </p:txBody>
      </p:sp>
    </p:spTree>
    <p:extLst>
      <p:ext uri="{BB962C8B-B14F-4D97-AF65-F5344CB8AC3E}">
        <p14:creationId xmlns:p14="http://schemas.microsoft.com/office/powerpoint/2010/main" val="1309976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26963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2A54C80-263E-416B-A8E0-580EDEADCBDC}" type="datetimeFigureOut">
              <a:rPr lang="en-US" dirty="0"/>
              <a:t>12/15/25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195597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30084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29387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34731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705854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07797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1123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75610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23019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56841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15262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799392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36946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a:pPr/>
              <a:t>12/15/25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a:pPr/>
              <a:t>‹#›</a:t>
            </a:fld>
            <a:endParaRPr lang="en-US" dirty="0"/>
          </a:p>
        </p:txBody>
      </p:sp>
    </p:spTree>
    <p:extLst>
      <p:ext uri="{BB962C8B-B14F-4D97-AF65-F5344CB8AC3E}">
        <p14:creationId xmlns:p14="http://schemas.microsoft.com/office/powerpoint/2010/main" val="2220125992"/>
      </p:ext>
    </p:extLst>
  </p:cSld>
  <p:clrMap bg1="lt1" tx1="dk1" bg2="lt2" tx2="dk2" accent1="accent1" accent2="accent2" accent3="accent3" accent4="accent4" accent5="accent5" accent6="accent6" hlink="hlink" folHlink="folHlink"/>
  <p:sldLayoutIdLst>
    <p:sldLayoutId id="2147484161" r:id="rId1"/>
    <p:sldLayoutId id="2147484162" r:id="rId2"/>
    <p:sldLayoutId id="2147484163" r:id="rId3"/>
    <p:sldLayoutId id="2147484164" r:id="rId4"/>
    <p:sldLayoutId id="2147484165" r:id="rId5"/>
    <p:sldLayoutId id="2147484166" r:id="rId6"/>
    <p:sldLayoutId id="2147484167" r:id="rId7"/>
    <p:sldLayoutId id="2147484168" r:id="rId8"/>
    <p:sldLayoutId id="2147484169" r:id="rId9"/>
    <p:sldLayoutId id="2147484170" r:id="rId10"/>
    <p:sldLayoutId id="2147484171" r:id="rId11"/>
    <p:sldLayoutId id="2147484172" r:id="rId12"/>
    <p:sldLayoutId id="2147484173" r:id="rId13"/>
    <p:sldLayoutId id="2147484174" r:id="rId14"/>
    <p:sldLayoutId id="2147484175" r:id="rId15"/>
    <p:sldLayoutId id="2147484176"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61780" y="2743200"/>
            <a:ext cx="9144000" cy="2778915"/>
          </a:xfrm>
        </p:spPr>
        <p:txBody>
          <a:bodyPr vert="horz" lIns="91440" tIns="45720" rIns="91440" bIns="45720" rtlCol="0" anchor="t">
            <a:noAutofit/>
          </a:bodyPr>
          <a:lstStyle/>
          <a:p>
            <a:pPr algn="ctr"/>
            <a:r>
              <a:rPr lang="en-GB" sz="2400" dirty="0"/>
              <a:t>  </a:t>
            </a:r>
            <a:r>
              <a:rPr lang="en-GB" sz="2400" dirty="0">
                <a:solidFill>
                  <a:schemeClr val="accent1">
                    <a:lumMod val="60000"/>
                    <a:lumOff val="40000"/>
                  </a:schemeClr>
                </a:solidFill>
              </a:rPr>
              <a:t> </a:t>
            </a:r>
            <a:r>
              <a:rPr lang="en-GB" sz="2400"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rPr>
              <a:t>Team members: </a:t>
            </a:r>
            <a:endParaRPr lang="en-GB"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endParaRPr>
          </a:p>
          <a:p>
            <a:pPr algn="ctr"/>
            <a:r>
              <a:rPr lang="en-GB" sz="2400"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rPr>
              <a:t> Pragya Sharma PES2UG25AM191</a:t>
            </a:r>
            <a:endParaRPr lang="en-GB"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endParaRPr>
          </a:p>
          <a:p>
            <a:pPr algn="ctr"/>
            <a:r>
              <a:rPr lang="en-GB" sz="2400"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rPr>
              <a:t> Pearl Bijoy PES2UG25AM187 </a:t>
            </a:r>
          </a:p>
          <a:p>
            <a:pPr algn="ctr"/>
            <a:r>
              <a:rPr lang="en-GB" sz="2400"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rPr>
              <a:t> R. Kundana Sree PES2UG25AM204</a:t>
            </a:r>
            <a:endParaRPr lang="en-GB"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endParaRPr>
          </a:p>
          <a:p>
            <a:pPr algn="ctr"/>
            <a:r>
              <a:rPr lang="en-GB" sz="2400" b="1" dirty="0">
                <a:solidFill>
                  <a:schemeClr val="accent2">
                    <a:lumMod val="60000"/>
                    <a:lumOff val="40000"/>
                  </a:schemeClr>
                </a:solidFill>
                <a:latin typeface="Times New Roman" panose="02020603050405020304" pitchFamily="18" charset="0"/>
                <a:ea typeface="Verdana"/>
                <a:cs typeface="Times New Roman" panose="02020603050405020304" pitchFamily="18" charset="0"/>
              </a:rPr>
              <a:t> Prerana. A PES2UG25CS408</a:t>
            </a:r>
          </a:p>
          <a:p>
            <a:endParaRPr lang="en-GB" dirty="0"/>
          </a:p>
        </p:txBody>
      </p:sp>
      <p:sp>
        <p:nvSpPr>
          <p:cNvPr id="5" name="Title 4">
            <a:extLst>
              <a:ext uri="{FF2B5EF4-FFF2-40B4-BE49-F238E27FC236}">
                <a16:creationId xmlns:a16="http://schemas.microsoft.com/office/drawing/2014/main" id="{312F9500-36A7-156A-C897-605239F7CB1B}"/>
              </a:ext>
            </a:extLst>
          </p:cNvPr>
          <p:cNvSpPr>
            <a:spLocks noGrp="1"/>
          </p:cNvSpPr>
          <p:nvPr>
            <p:ph type="ctrTitle"/>
          </p:nvPr>
        </p:nvSpPr>
        <p:spPr>
          <a:xfrm>
            <a:off x="1516962" y="724510"/>
            <a:ext cx="9033637" cy="1527549"/>
          </a:xfrm>
        </p:spPr>
        <p:txBody>
          <a:bodyPr/>
          <a:lstStyle/>
          <a:p>
            <a:pPr algn="ctr"/>
            <a:r>
              <a:rPr lang="en-GB" sz="3600" b="1" i="1" dirty="0">
                <a:latin typeface="Calibri"/>
                <a:ea typeface="Calibri"/>
                <a:cs typeface="Calibri"/>
              </a:rPr>
              <a:t>																			</a:t>
            </a:r>
            <a:r>
              <a:rPr lang="en-GB" sz="4400" b="1" dirty="0">
                <a:latin typeface="Times New Roman" panose="02020603050405020304" pitchFamily="18" charset="0"/>
                <a:ea typeface="Calibri"/>
                <a:cs typeface="Times New Roman" panose="02020603050405020304" pitchFamily="18" charset="0"/>
              </a:rPr>
              <a:t>Bridge of Bandits </a:t>
            </a:r>
            <a:br>
              <a:rPr lang="en-GB" sz="4400" b="1" dirty="0">
                <a:latin typeface="Times New Roman" panose="02020603050405020304" pitchFamily="18" charset="0"/>
                <a:cs typeface="Times New Roman" panose="02020603050405020304" pitchFamily="18" charset="0"/>
              </a:rPr>
            </a:br>
            <a:r>
              <a:rPr lang="en-GB" sz="4400" b="1" dirty="0">
                <a:latin typeface="Times New Roman" panose="02020603050405020304" pitchFamily="18" charset="0"/>
                <a:ea typeface="Calibri"/>
                <a:cs typeface="Times New Roman" panose="02020603050405020304" pitchFamily="18" charset="0"/>
              </a:rPr>
              <a:t>Team name: Algominds</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900" decel="100000" fill="hold"/>
                                        <p:tgtEl>
                                          <p:spTgt spid="5"/>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2" presetClass="entr" presetSubtype="4" fill="hold" grpId="0"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6" fill="hold">
                            <p:stCondLst>
                              <p:cond delay="2000"/>
                            </p:stCondLst>
                            <p:childTnLst>
                              <p:par>
                                <p:cTn id="17" presetID="2" presetClass="entr" presetSubtype="4" fill="hold" grpId="0"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21" fill="hold">
                            <p:stCondLst>
                              <p:cond delay="3000"/>
                            </p:stCondLst>
                            <p:childTnLst>
                              <p:par>
                                <p:cTn id="22" presetID="2" presetClass="entr" presetSubtype="4" fill="hold" grpId="0" nodeType="after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6" fill="hold">
                            <p:stCondLst>
                              <p:cond delay="4000"/>
                            </p:stCondLst>
                            <p:childTnLst>
                              <p:par>
                                <p:cTn id="27" presetID="2" presetClass="entr" presetSubtype="4" fill="hold" grpId="0" nodeType="after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31" fill="hold">
                            <p:stCondLst>
                              <p:cond delay="5000"/>
                            </p:stCondLst>
                            <p:childTnLst>
                              <p:par>
                                <p:cTn id="32" presetID="2" presetClass="entr" presetSubtype="4" fill="hold" grpId="0" nodeType="after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 calcmode="lin" valueType="num">
                                      <p:cBhvr additive="base">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5"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5E5D53-4A44-9663-D8A3-85510C9087FE}"/>
              </a:ext>
            </a:extLst>
          </p:cNvPr>
          <p:cNvSpPr txBox="1"/>
          <p:nvPr/>
        </p:nvSpPr>
        <p:spPr>
          <a:xfrm>
            <a:off x="457200" y="76200"/>
            <a:ext cx="8686800" cy="6894195"/>
          </a:xfrm>
          <a:prstGeom prst="rect">
            <a:avLst/>
          </a:prstGeom>
          <a:noFill/>
        </p:spPr>
        <p:txBody>
          <a:bodyPr wrap="square" rtlCol="0">
            <a:spAutoFit/>
          </a:bodyPr>
          <a:lstStyle/>
          <a:p>
            <a:endParaRPr lang="en-GB" dirty="0">
              <a:solidFill>
                <a:srgbClr val="35403A"/>
              </a:solidFill>
              <a:latin typeface="Times New Roman" panose="02020603050405020304" pitchFamily="18" charset="0"/>
              <a:cs typeface="Times New Roman" panose="02020603050405020304" pitchFamily="18" charset="0"/>
            </a:endParaRPr>
          </a:p>
          <a:p>
            <a:r>
              <a:rPr lang="en-GB" sz="3200" b="1" dirty="0">
                <a:solidFill>
                  <a:schemeClr val="accent1">
                    <a:lumMod val="76000"/>
                  </a:schemeClr>
                </a:solidFill>
                <a:latin typeface="Times New Roman" panose="02020603050405020304" pitchFamily="18" charset="0"/>
                <a:cs typeface="Times New Roman" panose="02020603050405020304" pitchFamily="18" charset="0"/>
              </a:rPr>
              <a:t>PROBLEM STATEMENT DESCRIPTION</a:t>
            </a: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This project is about a game "Bridge of Bandits" written in python where players steal gold and have to cross a bridge with limited weight capacity.</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Each player has to choose heavy or light weight. The heavy weight players get more reward with more risk.</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If the total weight of all the players exceeds the weight of the bridge, then players who chose heavy weight die. The light weight players survive and they can choose to sabotage.</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If total weight of the players is less than the weight of the bridge, all the players survive.</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In the end if only two players survive then they deadlock occurs and they have to choose to either steal or share.</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The ultimate goal of the game is to survive and collect maximum gold.</a:t>
            </a:r>
          </a:p>
          <a:p>
            <a:pPr>
              <a:buClr>
                <a:srgbClr val="EB3D9F"/>
              </a:buClr>
            </a:pPr>
            <a:endParaRPr lang="en-GB" dirty="0">
              <a:latin typeface="Times New Roman" panose="02020603050405020304" pitchFamily="18" charset="0"/>
              <a:cs typeface="Times New Roman" panose="02020603050405020304" pitchFamily="18" charset="0"/>
            </a:endParaRPr>
          </a:p>
          <a:p>
            <a:pPr>
              <a:buClr>
                <a:srgbClr val="EB3D9F"/>
              </a:buClr>
            </a:pPr>
            <a:r>
              <a:rPr lang="en-GB" sz="3200" b="1" dirty="0">
                <a:solidFill>
                  <a:schemeClr val="accent1">
                    <a:lumMod val="76000"/>
                  </a:schemeClr>
                </a:solidFill>
                <a:latin typeface="Times New Roman" panose="02020603050405020304" pitchFamily="18" charset="0"/>
                <a:cs typeface="Times New Roman" panose="02020603050405020304" pitchFamily="18" charset="0"/>
              </a:rPr>
              <a:t>METHODOLOGY/ ALGORITHM</a:t>
            </a:r>
            <a:endParaRPr lang="en-US" dirty="0"/>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Take number of players and name of the players.</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Input the weight by each player and the weight and the limit of the bridge is generated randomly.</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The light weight players can choose to sabotage. If bridge collapses heavy weight players are eliminated.</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35403A"/>
                </a:solidFill>
                <a:latin typeface="Times New Roman" panose="02020603050405020304" pitchFamily="18" charset="0"/>
                <a:cs typeface="Times New Roman" panose="02020603050405020304" pitchFamily="18" charset="0"/>
              </a:rPr>
              <a:t>When two players remain deadlock (share or steal) occurs. Player with highest gold is declared the winner.</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4486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1CF479-40BE-F640-984E-DBA46CA52F72}"/>
              </a:ext>
            </a:extLst>
          </p:cNvPr>
          <p:cNvSpPr txBox="1"/>
          <p:nvPr/>
        </p:nvSpPr>
        <p:spPr>
          <a:xfrm>
            <a:off x="533400" y="458956"/>
            <a:ext cx="8839200" cy="5940088"/>
          </a:xfrm>
          <a:prstGeom prst="rect">
            <a:avLst/>
          </a:prstGeom>
          <a:noFill/>
        </p:spPr>
        <p:txBody>
          <a:bodyPr wrap="square" rtlCol="0">
            <a:sp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SOFTWARE AND TOOLS USED</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Language : Python</a:t>
            </a:r>
            <a:endParaRPr lang="en-US"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Library : pygame</a:t>
            </a:r>
            <a:endParaRPr lang="en-US"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Modules used : math , sys</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Tools used : vscode</a:t>
            </a:r>
          </a:p>
          <a:p>
            <a:endParaRPr lang="en-GB" dirty="0">
              <a:solidFill>
                <a:srgbClr val="000000"/>
              </a:solidFill>
              <a:latin typeface="Times New Roman" panose="02020603050405020304" pitchFamily="18" charset="0"/>
              <a:cs typeface="Times New Roman" panose="02020603050405020304" pitchFamily="18" charset="0"/>
            </a:endParaRPr>
          </a:p>
          <a:p>
            <a:r>
              <a:rPr lang="en-GB" sz="3200" b="1" dirty="0">
                <a:solidFill>
                  <a:schemeClr val="accent1">
                    <a:lumMod val="76000"/>
                  </a:schemeClr>
                </a:solidFill>
                <a:latin typeface="Times New Roman" panose="02020603050405020304" pitchFamily="18" charset="0"/>
                <a:cs typeface="Times New Roman" panose="02020603050405020304" pitchFamily="18" charset="0"/>
              </a:rPr>
              <a:t>COMPLETE CODE</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complete project code is written in python, the library used is pygame and the modules used are math and sys.</a:t>
            </a:r>
          </a:p>
          <a:p>
            <a:endParaRPr lang="en-GB" dirty="0">
              <a:latin typeface="Times New Roman" panose="02020603050405020304" pitchFamily="18" charset="0"/>
              <a:cs typeface="Times New Roman" panose="02020603050405020304" pitchFamily="18" charset="0"/>
            </a:endParaRPr>
          </a:p>
          <a:p>
            <a:r>
              <a:rPr lang="en-GB" sz="3200" b="1" dirty="0">
                <a:solidFill>
                  <a:schemeClr val="accent1">
                    <a:lumMod val="76000"/>
                  </a:schemeClr>
                </a:solidFill>
                <a:latin typeface="Times New Roman" panose="02020603050405020304" pitchFamily="18" charset="0"/>
                <a:cs typeface="Times New Roman" panose="02020603050405020304" pitchFamily="18" charset="0"/>
              </a:rPr>
              <a:t>INPUT AND OUTPUT</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Players can input their names and choose heavy or light weight.</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weight of the bridge is compared to the total weight of the players and based on this the players survive or get eliminated.</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Output is shown after each round and the stats of each player is displayed.</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 the end if there are only two players deadlock takes place.</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final output shows the surviving players, their weight and the winner.</a:t>
            </a:r>
          </a:p>
          <a:p>
            <a:endParaRPr lang="en-US" sz="32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55043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office theme</Template>
  <TotalTime>57</TotalTime>
  <Words>393</Words>
  <Application>Microsoft Macintosh PowerPoint</Application>
  <PresentationFormat>Widescreen</PresentationFormat>
  <Paragraphs>35</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Times New Roman</vt:lpstr>
      <vt:lpstr>Trebuchet MS</vt:lpstr>
      <vt:lpstr>Wingdings 3</vt:lpstr>
      <vt:lpstr>Facet</vt:lpstr>
      <vt:lpstr>                   Bridge of Bandits  Team name: Algominds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of Bandits  Team name : Algominds</dc:title>
  <dc:creator>Arun Dhanyakumar</dc:creator>
  <cp:lastModifiedBy>Pragya Sharma</cp:lastModifiedBy>
  <cp:revision>237</cp:revision>
  <dcterms:created xsi:type="dcterms:W3CDTF">2025-12-14T13:28:41Z</dcterms:created>
  <dcterms:modified xsi:type="dcterms:W3CDTF">2025-12-15T05:25:40Z</dcterms:modified>
</cp:coreProperties>
</file>